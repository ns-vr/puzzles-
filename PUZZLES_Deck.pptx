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($M)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91E8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Global
Ed-Tech</c:v>
                  </c:pt>
                  <c:pt idx="1">
                    <c:v>Student
Social Apps</c:v>
                  </c:pt>
                  <c:pt idx="2">
                    <c:v>Campus
Platforms</c:v>
                  </c:pt>
                  <c:pt idx="3">
                    <c:v>UK Res.
Tech</c:v>
                  </c:pt>
                  <c:pt idx="4">
                    <c:v>PUZZLES
Y3 Target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4200</c:v>
                </c:pt>
                <c:pt idx="1">
                  <c:v>1800</c:v>
                </c:pt>
                <c:pt idx="2">
                  <c:v>820</c:v>
                </c:pt>
                <c:pt idx="3">
                  <c:v>310</c:v>
                </c:pt>
                <c:pt idx="4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87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5C588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87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0D1A"/>
        </a:solidFill>
        <a:ln>
          <a:noFill/>
        </a:ln>
        <a:effectLst/>
      </c:spPr>
    </c:plotArea>
    <c:plotVisOnly val="1"/>
    <c:dispBlanksAs val="span"/>
  </c:chart>
  <c:spPr>
    <a:solidFill>
      <a:srgbClr val="0D0D1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Users (%)</c:v>
                </c:pt>
              </c:strCache>
            </c:strRef>
          </c:tx>
          <c:spPr>
            <a:solidFill>
              <a:srgbClr val="E91E8C"/>
            </a:solidFill>
            <a:ln w="31750" cap="flat">
              <a:solidFill>
                <a:srgbClr val="E91E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91E8C"/>
              </a:solidFill>
              <a:ln w="9525" cap="flat">
                <a:solidFill>
                  <a:srgbClr val="E91E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Month 1</c:v>
                  </c:pt>
                  <c:pt idx="1">
                    <c:v>Month 3</c:v>
                  </c:pt>
                  <c:pt idx="2">
                    <c:v>Month 6</c:v>
                  </c:pt>
                  <c:pt idx="3">
                    <c:v>Month 9</c:v>
                  </c:pt>
                  <c:pt idx="4">
                    <c:v>Month 12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22</c:v>
                </c:pt>
                <c:pt idx="2">
                  <c:v>41</c:v>
                </c:pt>
                <c:pt idx="3">
                  <c:v>63</c:v>
                </c:pt>
                <c:pt idx="4">
                  <c:v>81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Community Events</c:v>
                </c:pt>
              </c:strCache>
            </c:strRef>
          </c:tx>
          <c:spPr>
            <a:solidFill>
              <a:srgbClr val="A78BFA"/>
            </a:solidFill>
            <a:ln w="31750" cap="flat">
              <a:solidFill>
                <a:srgbClr val="A78BF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78BFA"/>
              </a:solidFill>
              <a:ln w="9525" cap="flat">
                <a:solidFill>
                  <a:srgbClr val="A78BF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Month 1</c:v>
                  </c:pt>
                  <c:pt idx="1">
                    <c:v>Month 3</c:v>
                  </c:pt>
                  <c:pt idx="2">
                    <c:v>Month 6</c:v>
                  </c:pt>
                  <c:pt idx="3">
                    <c:v>Month 9</c:v>
                  </c:pt>
                  <c:pt idx="4">
                    <c:v>Month 12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12</c:v>
                </c:pt>
                <c:pt idx="2">
                  <c:v>28</c:v>
                </c:pt>
                <c:pt idx="3">
                  <c:v>47</c:v>
                </c:pt>
                <c:pt idx="4">
                  <c:v>74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87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5C588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87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0D1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0D0D1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Stack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91E8C"/>
              </a:solidFill>
              <a:effectLst/>
            </c:spPr>
          </c:dPt>
          <c:dPt>
            <c:idx val="1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bubble3D val="0"/>
            <c:spPr>
              <a:solidFill>
                <a:srgbClr val="10B98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Social Matching</c:v>
                </c:pt>
                <c:pt idx="1">
                  <c:v>AI Assistant</c:v>
                </c:pt>
                <c:pt idx="2">
                  <c:v>Community Tools</c:v>
                </c:pt>
                <c:pt idx="3">
                  <c:v>Campus Utilities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30</c:v>
                </c:pt>
                <c:pt idx="1">
                  <c:v>25</c:v>
                </c:pt>
                <c:pt idx="2">
                  <c:v>25</c:v>
                </c:pt>
                <c:pt idx="3">
                  <c:v>20</c:v>
                </c:pt>
              </c:numCache>
            </c:numRef>
          </c:val>
        </c:ser>
        <c:firstSliceAng val="0"/>
        <c:holeSize val="55"/>
      </c:doughnutChart>
      <c:spPr>
        <a:solidFill>
          <a:srgbClr val="0D0D1A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0D0D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8288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E91E8C">
              <a:alpha val="85000"/>
            </a:srgbClr>
          </a:solidFill>
          <a:ln w="19050">
            <a:solidFill>
              <a:srgbClr val="E91E8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18288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7C3AED">
              <a:alpha val="80000"/>
            </a:srgbClr>
          </a:solidFill>
          <a:ln w="190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128016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7C3AED">
              <a:alpha val="80000"/>
            </a:srgbClr>
          </a:solidFill>
          <a:ln w="190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128016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3B82F6">
              <a:alpha val="85000"/>
            </a:srgbClr>
          </a:solidFill>
          <a:ln w="1905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2560320" cy="320040"/>
          </a:xfrm>
          <a:prstGeom prst="roundRect">
            <a:avLst>
              <a:gd name="adj" fmla="val 48571"/>
            </a:avLst>
          </a:prstGeom>
          <a:solidFill>
            <a:srgbClr val="E91E8C">
              <a:alpha val="20000"/>
            </a:srgbClr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14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91E8C"/>
                </a:solidFill>
              </a:rPr>
              <a:t>AI PLATFORM  ·  RESIDENTIAL LIFE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PUZZLES</a:t>
            </a:r>
            <a:endParaRPr lang="en-US" sz="84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E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student is a piece.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E8E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PUZZLES brings them together.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6162A"/>
          </a:solidFill>
          <a:ln w="12700">
            <a:solidFill>
              <a:srgbClr val="1616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553712"/>
            <a:ext cx="9144000" cy="1828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87AD"/>
                </a:solidFill>
              </a:rPr>
              <a:t>Investor Pitch  ·  2024  ·  Confidential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8BFA"/>
                </a:solidFill>
              </a:rPr>
              <a:t>puzzles.campus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1E8C"/>
                </a:solidFill>
              </a:rPr>
              <a:t>01  / 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Residential life is broken.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live metres apart yet feel entirely alone.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737360"/>
            <a:ext cx="2743200" cy="2286000"/>
          </a:xfrm>
          <a:prstGeom prst="rect">
            <a:avLst/>
          </a:prstGeom>
          <a:solidFill>
            <a:srgbClr val="2A0A1A"/>
          </a:solidFill>
          <a:ln w="25400">
            <a:solidFill>
              <a:srgbClr val="E91E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737360"/>
            <a:ext cx="2743200" cy="6400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6F0"/>
                </a:solidFill>
              </a:rPr>
              <a:t>of first-years report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E6F0"/>
                </a:solidFill>
              </a:rPr>
              <a:t>loneliness in term one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4408" y="1737360"/>
            <a:ext cx="2743200" cy="2286000"/>
          </a:xfrm>
          <a:prstGeom prst="rect">
            <a:avLst/>
          </a:prstGeom>
          <a:solidFill>
            <a:srgbClr val="14082A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1737360"/>
            <a:ext cx="27432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8288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3/5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3264408" y="2880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6F0"/>
                </a:solidFill>
              </a:rPr>
              <a:t>students miss events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E6F0"/>
                </a:solidFill>
              </a:rPr>
              <a:t>because they heard nothing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08776" y="1737360"/>
            <a:ext cx="2743200" cy="2286000"/>
          </a:xfrm>
          <a:prstGeom prst="rect">
            <a:avLst/>
          </a:prstGeom>
          <a:solidFill>
            <a:srgbClr val="081428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08776" y="1737360"/>
            <a:ext cx="27432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8776" y="18288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6208776" y="2880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6F0"/>
                </a:solidFill>
              </a:rPr>
              <a:t>of dropouts cite social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E6F0"/>
                </a:solidFill>
              </a:rPr>
              <a:t>disconnection as a factor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4251960"/>
            <a:ext cx="8503920" cy="658368"/>
          </a:xfrm>
          <a:prstGeom prst="rect">
            <a:avLst/>
          </a:prstGeom>
          <a:solidFill>
            <a:srgbClr val="16162A"/>
          </a:solidFill>
          <a:ln w="12700">
            <a:solidFill>
              <a:srgbClr val="5C58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251960"/>
            <a:ext cx="201168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6F0"/>
                </a:solidFill>
              </a:rPr>
              <a:t>🔇  No peer discovery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32888" y="4251960"/>
            <a:ext cx="201168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6F0"/>
                </a:solidFill>
              </a:rPr>
              <a:t>📋  Fragmented info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54296" y="4251960"/>
            <a:ext cx="201168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6F0"/>
                </a:solidFill>
              </a:rPr>
              <a:t>😔  Invisible wellbeing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75704" y="4251960"/>
            <a:ext cx="201168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6F0"/>
                </a:solidFill>
              </a:rPr>
              <a:t>💬  No shared social space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02  /  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Every piece of campus life.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120640" cy="347472"/>
          </a:xfrm>
          <a:prstGeom prst="rect">
            <a:avLst/>
          </a:prstGeom>
          <a:solidFill>
            <a:srgbClr val="1C1C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</a:rPr>
              <a:t>Discord  ×  Spotify  ×  Smart Campus Assistant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00600" y="1463040"/>
            <a:ext cx="2084832" cy="877824"/>
          </a:xfrm>
          <a:prstGeom prst="rect">
            <a:avLst/>
          </a:prstGeom>
          <a:solidFill>
            <a:srgbClr val="16162A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00600" y="1463040"/>
            <a:ext cx="45720" cy="87782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8616" y="164592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0" y="1527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Social Matching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303520" y="184708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7AD"/>
                </a:solidFill>
              </a:rPr>
              <a:t>AI peer discovery + compatibility %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013448" y="1463040"/>
            <a:ext cx="2084832" cy="877824"/>
          </a:xfrm>
          <a:prstGeom prst="rect">
            <a:avLst/>
          </a:prstGeom>
          <a:solidFill>
            <a:srgbClr val="16162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13448" y="1463040"/>
            <a:ext cx="45720" cy="8778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464" y="164592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16368" y="1527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Gaming Servers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516368" y="184708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7AD"/>
                </a:solidFill>
              </a:rPr>
              <a:t>Rooms, voice, tournaments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800600" y="2468880"/>
            <a:ext cx="2084832" cy="877824"/>
          </a:xfrm>
          <a:prstGeom prst="rect">
            <a:avLst/>
          </a:prstGeom>
          <a:solidFill>
            <a:srgbClr val="1616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00600" y="2468880"/>
            <a:ext cx="45720" cy="8778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265176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03520" y="25328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Music Jam Rooms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303520" y="28529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7AD"/>
                </a:solidFill>
              </a:rPr>
              <a:t>Live listening &amp; playlist voting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7013448" y="2468880"/>
            <a:ext cx="2084832" cy="877824"/>
          </a:xfrm>
          <a:prstGeom prst="rect">
            <a:avLst/>
          </a:prstGeom>
          <a:solidFill>
            <a:srgbClr val="16162A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013448" y="2468880"/>
            <a:ext cx="45720" cy="87782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464" y="265176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16368" y="25328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MoodMap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516368" y="28529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7AD"/>
                </a:solidFill>
              </a:rPr>
              <a:t>Wellbeing heatmap &amp; alerts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800600" y="3474720"/>
            <a:ext cx="2084832" cy="877824"/>
          </a:xfrm>
          <a:prstGeom prst="rect">
            <a:avLst/>
          </a:prstGeom>
          <a:solidFill>
            <a:srgbClr val="1616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800600" y="3474720"/>
            <a:ext cx="45720" cy="8778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3657600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03520" y="35387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Study Finder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303520" y="38587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7AD"/>
                </a:solidFill>
              </a:rPr>
              <a:t>Live occupancy + noise predict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7013448" y="3474720"/>
            <a:ext cx="2084832" cy="877824"/>
          </a:xfrm>
          <a:prstGeom prst="rect">
            <a:avLst/>
          </a:prstGeom>
          <a:solidFill>
            <a:srgbClr val="1616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7013448" y="3474720"/>
            <a:ext cx="45720" cy="8778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464" y="3657600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516368" y="35387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Laundry Tracker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7516368" y="38587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7AD"/>
                </a:solidFill>
              </a:rPr>
              <a:t>Real-time machine status + pings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1417320" y="1920240"/>
            <a:ext cx="1828800" cy="1828800"/>
          </a:xfrm>
          <a:prstGeom prst="ellipse">
            <a:avLst/>
          </a:prstGeom>
          <a:solidFill>
            <a:srgbClr val="1C1C35"/>
          </a:solidFill>
          <a:ln w="25400">
            <a:solidFill>
              <a:srgbClr val="7C3AED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4248" y="2331720"/>
            <a:ext cx="694944" cy="6949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41732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PUZZLES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AI Core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2811780" y="2003152"/>
            <a:ext cx="228600" cy="-395947"/>
          </a:xfrm>
          <a:prstGeom prst="line">
            <a:avLst/>
          </a:prstGeom>
          <a:noFill/>
          <a:ln w="19050">
            <a:solidFill>
              <a:srgbClr val="E91E8C"/>
            </a:solidFill>
            <a:prstDash val="dash"/>
          </a:ln>
        </p:spPr>
      </p:sp>
      <p:sp>
        <p:nvSpPr>
          <p:cNvPr id="40" name="Shape 31"/>
          <p:cNvSpPr/>
          <p:nvPr/>
        </p:nvSpPr>
        <p:spPr>
          <a:xfrm>
            <a:off x="2784348" y="1351173"/>
            <a:ext cx="512064" cy="512064"/>
          </a:xfrm>
          <a:prstGeom prst="ellipse">
            <a:avLst/>
          </a:prstGeom>
          <a:solidFill>
            <a:srgbClr val="E91E8C">
              <a:alpha val="70000"/>
            </a:srgbClr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2674620" y="1497477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Match</a:t>
            </a:r>
            <a:endParaRPr lang="en-US" sz="800" dirty="0"/>
          </a:p>
        </p:txBody>
      </p:sp>
      <p:sp>
        <p:nvSpPr>
          <p:cNvPr id="42" name="Shape 33"/>
          <p:cNvSpPr/>
          <p:nvPr/>
        </p:nvSpPr>
        <p:spPr>
          <a:xfrm>
            <a:off x="3291840" y="2834640"/>
            <a:ext cx="4572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dash"/>
          </a:ln>
        </p:spPr>
      </p:sp>
      <p:sp>
        <p:nvSpPr>
          <p:cNvPr id="43" name="Shape 34"/>
          <p:cNvSpPr/>
          <p:nvPr/>
        </p:nvSpPr>
        <p:spPr>
          <a:xfrm>
            <a:off x="3493008" y="2578608"/>
            <a:ext cx="512064" cy="512064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3383280" y="27249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Game</a:t>
            </a:r>
            <a:endParaRPr lang="en-US" sz="800" dirty="0"/>
          </a:p>
        </p:txBody>
      </p:sp>
      <p:sp>
        <p:nvSpPr>
          <p:cNvPr id="45" name="Shape 36"/>
          <p:cNvSpPr/>
          <p:nvPr/>
        </p:nvSpPr>
        <p:spPr>
          <a:xfrm>
            <a:off x="2811780" y="3666128"/>
            <a:ext cx="228600" cy="395947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</p:sp>
      <p:sp>
        <p:nvSpPr>
          <p:cNvPr id="46" name="Shape 37"/>
          <p:cNvSpPr/>
          <p:nvPr/>
        </p:nvSpPr>
        <p:spPr>
          <a:xfrm>
            <a:off x="2784348" y="3806043"/>
            <a:ext cx="512064" cy="512064"/>
          </a:xfrm>
          <a:prstGeom prst="ellipse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2674620" y="3952347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Music</a:t>
            </a:r>
            <a:endParaRPr lang="en-US" sz="800" dirty="0"/>
          </a:p>
        </p:txBody>
      </p:sp>
      <p:sp>
        <p:nvSpPr>
          <p:cNvPr id="48" name="Shape 39"/>
          <p:cNvSpPr/>
          <p:nvPr/>
        </p:nvSpPr>
        <p:spPr>
          <a:xfrm>
            <a:off x="1851660" y="3666128"/>
            <a:ext cx="-228600" cy="395947"/>
          </a:xfrm>
          <a:prstGeom prst="line">
            <a:avLst/>
          </a:prstGeom>
          <a:noFill/>
          <a:ln w="19050">
            <a:solidFill>
              <a:srgbClr val="E91E8C"/>
            </a:solidFill>
            <a:prstDash val="dash"/>
          </a:ln>
        </p:spPr>
      </p:sp>
      <p:sp>
        <p:nvSpPr>
          <p:cNvPr id="49" name="Shape 40"/>
          <p:cNvSpPr/>
          <p:nvPr/>
        </p:nvSpPr>
        <p:spPr>
          <a:xfrm>
            <a:off x="1367028" y="3806043"/>
            <a:ext cx="512064" cy="512064"/>
          </a:xfrm>
          <a:prstGeom prst="ellipse">
            <a:avLst/>
          </a:prstGeom>
          <a:solidFill>
            <a:srgbClr val="E91E8C">
              <a:alpha val="70000"/>
            </a:srgbClr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1257300" y="3952347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Mood</a:t>
            </a:r>
            <a:endParaRPr lang="en-US" sz="800" dirty="0"/>
          </a:p>
        </p:txBody>
      </p:sp>
      <p:sp>
        <p:nvSpPr>
          <p:cNvPr id="51" name="Shape 42"/>
          <p:cNvSpPr/>
          <p:nvPr/>
        </p:nvSpPr>
        <p:spPr>
          <a:xfrm>
            <a:off x="1371600" y="2834640"/>
            <a:ext cx="-4572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dash"/>
          </a:ln>
        </p:spPr>
      </p:sp>
      <p:sp>
        <p:nvSpPr>
          <p:cNvPr id="52" name="Shape 43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548640" y="27249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Study</a:t>
            </a:r>
            <a:endParaRPr lang="en-US" sz="800" dirty="0"/>
          </a:p>
        </p:txBody>
      </p:sp>
      <p:sp>
        <p:nvSpPr>
          <p:cNvPr id="54" name="Shape 45"/>
          <p:cNvSpPr/>
          <p:nvPr/>
        </p:nvSpPr>
        <p:spPr>
          <a:xfrm>
            <a:off x="1851660" y="2003152"/>
            <a:ext cx="-228600" cy="-395947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55" name="Shape 46"/>
          <p:cNvSpPr/>
          <p:nvPr/>
        </p:nvSpPr>
        <p:spPr>
          <a:xfrm>
            <a:off x="1367028" y="1351173"/>
            <a:ext cx="512064" cy="512064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47"/>
          <p:cNvSpPr/>
          <p:nvPr/>
        </p:nvSpPr>
        <p:spPr>
          <a:xfrm>
            <a:off x="1257300" y="1497477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Laundry</a:t>
            </a:r>
            <a:endParaRPr lang="en-US" sz="800" dirty="0"/>
          </a:p>
        </p:txBody>
      </p:sp>
      <p:sp>
        <p:nvSpPr>
          <p:cNvPr id="57" name="Shape 48"/>
          <p:cNvSpPr/>
          <p:nvPr/>
        </p:nvSpPr>
        <p:spPr>
          <a:xfrm>
            <a:off x="320040" y="4645152"/>
            <a:ext cx="8503920" cy="320040"/>
          </a:xfrm>
          <a:prstGeom prst="rect">
            <a:avLst/>
          </a:prstGeom>
          <a:solidFill>
            <a:srgbClr val="16162A"/>
          </a:solidFill>
          <a:ln w="12700">
            <a:solidFill>
              <a:srgbClr val="5C5880"/>
            </a:solidFill>
            <a:prstDash val="solid"/>
          </a:ln>
        </p:spPr>
      </p:sp>
      <p:sp>
        <p:nvSpPr>
          <p:cNvPr id="58" name="Text 49"/>
          <p:cNvSpPr/>
          <p:nvPr/>
        </p:nvSpPr>
        <p:spPr>
          <a:xfrm>
            <a:off x="320040" y="464515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F0"/>
                </a:solidFill>
              </a:rPr>
              <a:t>🏆  Gamification  ·  Points, badges, leaderboards to drive community engagement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</a:rPr>
              <a:t>03  /  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AI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75488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70432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41248" y="1170432"/>
            <a:ext cx="3383280" cy="530352"/>
          </a:xfrm>
          <a:prstGeom prst="rect">
            <a:avLst/>
          </a:prstGeom>
          <a:solidFill>
            <a:srgbClr val="1616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0700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Sign 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4447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7AD"/>
                </a:solidFill>
              </a:rPr>
              <a:t>Campus email SSO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7784" y="1700784"/>
            <a:ext cx="0" cy="219456"/>
          </a:xfrm>
          <a:prstGeom prst="line">
            <a:avLst/>
          </a:prstGeom>
          <a:noFill/>
          <a:ln w="25400">
            <a:solidFill>
              <a:srgbClr val="5C58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792224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880"/>
                </a:solidFill>
              </a:rPr>
              <a:t>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475488" cy="53035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20240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1920240"/>
            <a:ext cx="3383280" cy="530352"/>
          </a:xfrm>
          <a:prstGeom prst="rect">
            <a:avLst/>
          </a:prstGeom>
          <a:solidFill>
            <a:srgbClr val="16162A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95681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Quiz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7AD"/>
                </a:solidFill>
              </a:rPr>
              <a:t>Personality + interests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" y="2450592"/>
            <a:ext cx="0" cy="219456"/>
          </a:xfrm>
          <a:prstGeom prst="line">
            <a:avLst/>
          </a:prstGeom>
          <a:noFill/>
          <a:ln w="25400">
            <a:solidFill>
              <a:srgbClr val="5C58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542032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880"/>
                </a:solidFill>
              </a:rPr>
              <a:t>▾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670048"/>
            <a:ext cx="475488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670048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41248" y="2670048"/>
            <a:ext cx="3383280" cy="530352"/>
          </a:xfrm>
          <a:prstGeom prst="rect">
            <a:avLst/>
          </a:prstGeom>
          <a:solidFill>
            <a:srgbClr val="16162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7066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Matching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294436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7AD"/>
                </a:solidFill>
              </a:rPr>
              <a:t>Embeddings + cosine sim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" y="3200400"/>
            <a:ext cx="0" cy="219456"/>
          </a:xfrm>
          <a:prstGeom prst="line">
            <a:avLst/>
          </a:prstGeom>
          <a:noFill/>
          <a:ln w="25400">
            <a:solidFill>
              <a:srgbClr val="5C58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291840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880"/>
                </a:solidFill>
              </a:rPr>
              <a:t>▾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419856"/>
            <a:ext cx="475488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419856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41248" y="3419856"/>
            <a:ext cx="3383280" cy="530352"/>
          </a:xfrm>
          <a:prstGeom prst="rect">
            <a:avLst/>
          </a:prstGeom>
          <a:solidFill>
            <a:srgbClr val="1616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45643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Join Rooms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369417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7AD"/>
                </a:solidFill>
              </a:rPr>
              <a:t>Communities + servers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7784" y="3950208"/>
            <a:ext cx="0" cy="219456"/>
          </a:xfrm>
          <a:prstGeom prst="line">
            <a:avLst/>
          </a:prstGeom>
          <a:noFill/>
          <a:ln w="25400">
            <a:solidFill>
              <a:srgbClr val="5C58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4041648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880"/>
                </a:solidFill>
              </a:rPr>
              <a:t>▾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4169664"/>
            <a:ext cx="475488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169664"/>
            <a:ext cx="475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41248" y="4169664"/>
            <a:ext cx="3383280" cy="530352"/>
          </a:xfrm>
          <a:prstGeom prst="rect">
            <a:avLst/>
          </a:prstGeom>
          <a:solidFill>
            <a:srgbClr val="1616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42062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Daily Use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14400" y="444398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7AD"/>
                </a:solidFill>
              </a:rPr>
              <a:t>Mood · Laundry · Study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10972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87AD"/>
                </a:solidFill>
              </a:rPr>
              <a:t>TECH STACK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1417320"/>
            <a:ext cx="4160520" cy="603504"/>
          </a:xfrm>
          <a:prstGeom prst="rect">
            <a:avLst/>
          </a:prstGeom>
          <a:solidFill>
            <a:srgbClr val="16162A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1417320"/>
            <a:ext cx="45720" cy="60350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1472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00600" y="17190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7AD"/>
                </a:solidFill>
              </a:rPr>
              <a:t>React · Next.js · Tailwind · Framer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2167128"/>
            <a:ext cx="4160520" cy="603504"/>
          </a:xfrm>
          <a:prstGeom prst="rect">
            <a:avLst/>
          </a:prstGeom>
          <a:solidFill>
            <a:srgbClr val="1616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2167128"/>
            <a:ext cx="45720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22219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Layer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800600" y="24688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7AD"/>
                </a:solidFill>
              </a:rPr>
              <a:t>OpenAI API · GPT-4 · Embeddings · RAG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2916936"/>
            <a:ext cx="4160520" cy="603504"/>
          </a:xfrm>
          <a:prstGeom prst="rect">
            <a:avLst/>
          </a:prstGeom>
          <a:solidFill>
            <a:srgbClr val="16162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2916936"/>
            <a:ext cx="45720" cy="6035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29718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800600" y="32186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7AD"/>
                </a:solidFill>
              </a:rPr>
              <a:t>Node.js · Express · WebSockets · FCM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63440" y="3666744"/>
            <a:ext cx="4160520" cy="603504"/>
          </a:xfrm>
          <a:prstGeom prst="rect">
            <a:avLst/>
          </a:prstGeom>
          <a:solidFill>
            <a:srgbClr val="1616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63440" y="3666744"/>
            <a:ext cx="45720" cy="6035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37216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 &amp; Auth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800600" y="39684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7AD"/>
                </a:solidFill>
              </a:rPr>
              <a:t>MongoDB · Firebase · Campus SSO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63440" y="4480560"/>
            <a:ext cx="4160520" cy="475488"/>
          </a:xfrm>
          <a:prstGeom prst="rect">
            <a:avLst/>
          </a:prstGeom>
          <a:solidFill>
            <a:srgbClr val="1C1C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0" y="4480560"/>
            <a:ext cx="41605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AI MATCHING:  Quiz → Embed → Vector DB → Cosine Sim → Ranked Matches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480560" y="1097280"/>
            <a:ext cx="0" cy="3749040"/>
          </a:xfrm>
          <a:prstGeom prst="line">
            <a:avLst/>
          </a:prstGeom>
          <a:noFill/>
          <a:ln w="12700">
            <a:solidFill>
              <a:srgbClr val="5C5880"/>
            </a:solidFill>
            <a:prstDash val="dash"/>
          </a:ln>
        </p:spPr>
      </p:sp>
      <p:sp>
        <p:nvSpPr>
          <p:cNvPr id="57" name="Text 55"/>
          <p:cNvSpPr/>
          <p:nvPr/>
        </p:nvSpPr>
        <p:spPr>
          <a:xfrm>
            <a:off x="320040" y="1097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87AD"/>
                </a:solidFill>
              </a:rPr>
              <a:t>USER JOURNEY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</a:rPr>
              <a:t>04  /  MARKET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$4.2B addressable market — untapped.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657600"/>
          </a:xfrm>
          <a:prstGeom prst="ellipse">
            <a:avLst/>
          </a:prstGeom>
          <a:solidFill>
            <a:srgbClr val="10B981">
              <a:alpha val="2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3017520" cy="2834640"/>
          </a:xfrm>
          <a:prstGeom prst="ellipse">
            <a:avLst/>
          </a:prstGeom>
          <a:solidFill>
            <a:srgbClr val="7C3AED">
              <a:alpha val="25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965960"/>
            <a:ext cx="1920240" cy="1920240"/>
          </a:xfrm>
          <a:prstGeom prst="ellipse">
            <a:avLst/>
          </a:prstGeom>
          <a:solidFill>
            <a:srgbClr val="E91E8C">
              <a:alpha val="35000"/>
            </a:srgbClr>
          </a:solidFill>
          <a:ln w="25400">
            <a:solidFill>
              <a:srgbClr val="E91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TAM  $4.2B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" y="14813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7AD"/>
                </a:solidFill>
              </a:rPr>
              <a:t>Global student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87AD"/>
                </a:solidFill>
              </a:rPr>
              <a:t>tech platforms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5361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SAM  $820M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7AD"/>
                </a:solidFill>
              </a:rPr>
              <a:t>UK/EU residential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87AD"/>
                </a:solidFill>
              </a:rPr>
              <a:t>uni platforms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89888" y="2606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1E8C"/>
                </a:solidFill>
              </a:rPr>
              <a:t>SOM  $95M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89888" y="2880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7AD"/>
                </a:solidFill>
              </a:rPr>
              <a:t>Y3 reachable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87AD"/>
                </a:solidFill>
              </a:rPr>
              <a:t>market</a:t>
            </a:r>
            <a:endParaRPr lang="en-US" sz="9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572000" y="1005840"/>
          <a:ext cx="42976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320040" y="4526280"/>
            <a:ext cx="2743200" cy="457200"/>
          </a:xfrm>
          <a:prstGeom prst="rect">
            <a:avLst/>
          </a:prstGeom>
          <a:solidFill>
            <a:srgbClr val="16162A"/>
          </a:solidFill>
          <a:ln w="12700">
            <a:solidFill>
              <a:srgbClr val="5C58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3192" y="4526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230M+  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508760" y="4526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F0"/>
                </a:solidFill>
              </a:rPr>
              <a:t>university students worldwide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64408" y="4526280"/>
            <a:ext cx="2743200" cy="457200"/>
          </a:xfrm>
          <a:prstGeom prst="rect">
            <a:avLst/>
          </a:prstGeom>
          <a:solidFill>
            <a:srgbClr val="16162A"/>
          </a:solidFill>
          <a:ln w="12700">
            <a:solidFill>
              <a:srgbClr val="5C588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37560" y="4526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£9,500  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453128" y="4526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F0"/>
                </a:solidFill>
              </a:rPr>
              <a:t>average annual tuition (UK)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08776" y="4526280"/>
            <a:ext cx="2743200" cy="457200"/>
          </a:xfrm>
          <a:prstGeom prst="rect">
            <a:avLst/>
          </a:prstGeom>
          <a:solidFill>
            <a:srgbClr val="16162A"/>
          </a:solidFill>
          <a:ln w="12700">
            <a:solidFill>
              <a:srgbClr val="5C588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81928" y="4526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  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397496" y="4526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F0"/>
                </a:solidFill>
              </a:rPr>
              <a:t>students use phones for social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</a:rPr>
              <a:t>05  /  IMPACT &amp;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outcomes. Realistic delivery.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7AD"/>
                </a:solidFill>
              </a:rPr>
              <a:t>PROJECTED ENGAGEMENT GROWTH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298448"/>
          <a:ext cx="42062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0515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7AD"/>
                </a:solidFill>
              </a:rPr>
              <a:t>PHASED ROLLOUT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266944" y="1325880"/>
            <a:ext cx="0" cy="3474720"/>
          </a:xfrm>
          <a:prstGeom prst="line">
            <a:avLst/>
          </a:prstGeom>
          <a:noFill/>
          <a:ln w="25400">
            <a:solidFill>
              <a:srgbClr val="5C588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138928" y="1362456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77840" y="1325880"/>
            <a:ext cx="3246120" cy="749808"/>
          </a:xfrm>
          <a:prstGeom prst="rect">
            <a:avLst/>
          </a:prstGeom>
          <a:solidFill>
            <a:srgbClr val="1616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50992" y="13716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Phase 1  ·  Months 1–3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50992" y="156362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MVP Launch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50992" y="17830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7AD"/>
                </a:solidFill>
              </a:rPr>
              <a:t>Matching · Community Hub · AI Assistant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138928" y="2231136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77840" y="2194560"/>
            <a:ext cx="3246120" cy="749808"/>
          </a:xfrm>
          <a:prstGeom prst="rect">
            <a:avLst/>
          </a:prstGeom>
          <a:solidFill>
            <a:srgbClr val="16162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50992" y="22402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Phase 2  ·  Months 4–6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650992" y="24323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Utilities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650992" y="26517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7AD"/>
                </a:solidFill>
              </a:rPr>
              <a:t>Laundry Tracker · Study Finder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138928" y="3099816"/>
            <a:ext cx="256032" cy="256032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77840" y="3063240"/>
            <a:ext cx="3246120" cy="749808"/>
          </a:xfrm>
          <a:prstGeom prst="rect">
            <a:avLst/>
          </a:prstGeom>
          <a:solidFill>
            <a:srgbClr val="16162A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50992" y="31089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1E8C"/>
                </a:solidFill>
              </a:rPr>
              <a:t>Phase 3  ·  Months 7–9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650992" y="33009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Wellbeing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650992" y="35204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7AD"/>
                </a:solidFill>
              </a:rPr>
              <a:t>MoodMap · Welfare alerts · Multi-hall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138928" y="3968496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77840" y="3931920"/>
            <a:ext cx="3246120" cy="749808"/>
          </a:xfrm>
          <a:prstGeom prst="rect">
            <a:avLst/>
          </a:prstGeom>
          <a:solidFill>
            <a:srgbClr val="1616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50992" y="39776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Phase 4  ·  Month 10+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650992" y="41696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650992" y="4389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7AD"/>
                </a:solidFill>
              </a:rPr>
              <a:t>Multi-campus · API integrations · Licensing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20040" y="4160520"/>
            <a:ext cx="1965960" cy="804672"/>
          </a:xfrm>
          <a:prstGeom prst="rect">
            <a:avLst/>
          </a:prstGeom>
          <a:solidFill>
            <a:srgbClr val="16162A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" y="4069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1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–30%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320040" y="44074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F0"/>
                </a:solidFill>
              </a:rPr>
              <a:t>Loneliness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496312" y="4160520"/>
            <a:ext cx="1965960" cy="804672"/>
          </a:xfrm>
          <a:prstGeom prst="rect">
            <a:avLst/>
          </a:prstGeom>
          <a:solidFill>
            <a:srgbClr val="1616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496312" y="4069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+15%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2496312" y="44074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F0"/>
                </a:solidFill>
              </a:rPr>
              <a:t>Retention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672584" y="4160520"/>
            <a:ext cx="1965960" cy="804672"/>
          </a:xfrm>
          <a:prstGeom prst="rect">
            <a:avLst/>
          </a:prstGeom>
          <a:solidFill>
            <a:srgbClr val="16162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72584" y="4069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–40%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4672584" y="44074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F0"/>
                </a:solidFill>
              </a:rPr>
              <a:t>Admin queries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848856" y="4160520"/>
            <a:ext cx="1965960" cy="804672"/>
          </a:xfrm>
          <a:prstGeom prst="rect">
            <a:avLst/>
          </a:prstGeom>
          <a:solidFill>
            <a:srgbClr val="1616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48856" y="4069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+3×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6848856" y="44074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6F0"/>
                </a:solidFill>
              </a:rPr>
              <a:t>Engagement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1E8C"/>
                </a:solidFill>
              </a:rPr>
              <a:t>06  /  BUSINESS MODEL  &amp; 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grow. What we need.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2743200" cy="2286000"/>
          </a:xfrm>
          <a:prstGeom prst="rect">
            <a:avLst/>
          </a:prstGeom>
          <a:solidFill>
            <a:srgbClr val="16162A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15568"/>
            <a:ext cx="2743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070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Freemium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5727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7AD"/>
                </a:solidFill>
              </a:rPr>
              <a:t>Student accounts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50592"/>
            <a:ext cx="2377440" cy="0"/>
          </a:xfrm>
          <a:prstGeom prst="line">
            <a:avLst/>
          </a:prstGeom>
          <a:noFill/>
          <a:ln w="12700">
            <a:solidFill>
              <a:srgbClr val="5C58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50545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6F0"/>
                </a:solidFill>
              </a:rPr>
              <a:t>Core social, matching, basic 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4408" y="1115568"/>
            <a:ext cx="2743200" cy="2286000"/>
          </a:xfrm>
          <a:prstGeom prst="rect">
            <a:avLst/>
          </a:prstGeom>
          <a:solidFill>
            <a:srgbClr val="16162A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4408" y="1115568"/>
            <a:ext cx="27432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2070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University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64408" y="15727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£8k / yr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355848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7AD"/>
                </a:solidFill>
              </a:rPr>
              <a:t>Per institution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47288" y="2450592"/>
            <a:ext cx="2377440" cy="0"/>
          </a:xfrm>
          <a:prstGeom prst="line">
            <a:avLst/>
          </a:prstGeom>
          <a:noFill/>
          <a:ln w="12700">
            <a:solidFill>
              <a:srgbClr val="5C58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250545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6F0"/>
                </a:solidFill>
              </a:rPr>
              <a:t>Full platform, analytics, MoodMap, SLA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08776" y="1115568"/>
            <a:ext cx="2743200" cy="2286000"/>
          </a:xfrm>
          <a:prstGeom prst="rect">
            <a:avLst/>
          </a:prstGeom>
          <a:solidFill>
            <a:srgbClr val="16162A"/>
          </a:solidFill>
          <a:ln w="25400">
            <a:solidFill>
              <a:srgbClr val="E91E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1115568"/>
            <a:ext cx="2743200" cy="7315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8776" y="12070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1E8C"/>
                </a:solidFill>
              </a:rPr>
              <a:t>Enterprise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08776" y="15727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300216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7AD"/>
                </a:solidFill>
              </a:rPr>
              <a:t>Multi-campus / chains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91656" y="2450592"/>
            <a:ext cx="2377440" cy="0"/>
          </a:xfrm>
          <a:prstGeom prst="line">
            <a:avLst/>
          </a:prstGeom>
          <a:noFill/>
          <a:ln w="12700">
            <a:solidFill>
              <a:srgbClr val="5C58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0216" y="250545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6F0"/>
                </a:solidFill>
              </a:rPr>
              <a:t>White-label, deep integrations, API access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3566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87AD"/>
                </a:solidFill>
              </a:rPr>
              <a:t>WHY NOW</a:t>
            </a:r>
            <a:endParaRPr lang="en-US" sz="9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320040" y="3840480"/>
          <a:ext cx="2286000" cy="1097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2743200" y="3840480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6F0"/>
                </a:solidFill>
              </a:rPr>
              <a:t>🎓  Post-pandemic cohorts need digital social infrastructure now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743200" y="4123944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6F0"/>
                </a:solidFill>
              </a:rPr>
              <a:t>🤖  AI maturity (GPT-4, embeddings) makes this finally buildable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743200" y="4407408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6F0"/>
                </a:solidFill>
              </a:rPr>
              <a:t>💰  Universities actively seek student wellbeing tech solutions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2743200" y="4690872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6F0"/>
                </a:solidFill>
              </a:rPr>
              <a:t>🚀  No direct competitor owns this space at residential level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PUZZLES — AI-Powered Residential Platform</dc:title>
  <dc:subject>PptxGenJS Presentation</dc:subject>
  <dc:creator>PptxGenJS</dc:creator>
  <cp:lastModifiedBy>PptxGenJS</cp:lastModifiedBy>
  <cp:revision>1</cp:revision>
  <dcterms:created xsi:type="dcterms:W3CDTF">2026-03-19T16:09:56Z</dcterms:created>
  <dcterms:modified xsi:type="dcterms:W3CDTF">2026-03-19T16:09:56Z</dcterms:modified>
</cp:coreProperties>
</file>